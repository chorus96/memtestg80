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도입. 소비자 GPU의 메모리 신뢰성을 전 지구적 규모로 실측한 연구임을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좌: 이터레이션 컷오프별 카드 수(로그). 우: 최소 30만 회 완료한 카드의 제품군별 분포.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결론: 2% 하드 오류율은 명시적 테스트를 정당화하고, 신뢰성 있는 GPGPU에는 ECC가 필수적임.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Resilience Summit @ LACSS · 2010년 10월 13일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오류에 관한 실측 데이터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GPGPU 메모리 소프트 오류율에 대한 전 지구적 규모의 조사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5943600" cy="0"/>
          </a:xfrm>
          <a:prstGeom prst="line">
            <a:avLst/>
          </a:prstGeom>
          <a:noFill/>
          <a:ln w="19050">
            <a:solidFill>
              <a:srgbClr val="B9C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434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Imran Haque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스탠퍼드 대학교 컴퓨터과학과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ihaque@cs.stanford.edu · folding.stanford.edu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번역판 · 원본: gpuser_lacss_oct_2010.pdf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(Motivation)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GPU는 오류에 둔감한 소비자 그래픽에서 출발했다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대부분의* 그래픽 메모리에는 ECC도 패리티도 없다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설치된 소비자 GPU 기반은 — 그리고 소비자 GPU에서 파생된 프로 하드웨어까지! — 오류에 민감한 범용 연산에 얼마나 적합한가?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이 점("대부분의")에 관해서는 뒤에서 더 다룬다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— 우리가 만든 GPU 소프트웨어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많은 GPU 소프트웨어를 작성했고, 그것을 아주 많은 GPU에서 실행한다.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B9C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Folding@home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069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분자동역학 (molecular dynamics)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310896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B9C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OpenMM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4069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분자동역학 라이브러리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310896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B9C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4069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3차원 화학 유사성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06840" y="310896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B9C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0" y="4069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1차원 화학 유사성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지원 패키지 — 실제로 오류에 민감한 과학 계산에 GPU를 쓰고 있다는 점이 이 연구의 출발점.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+ MemtestCL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x86 PC용 Memtest86에 기반한 맞춤 소프트웨어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오픈소스(LGPL) — https://simtk.org/home/memtest 에서 제공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테스트 패턴: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상수 (전부 1, 전부 0, 난수)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 1·0 (8비트, 32비트)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워드 (GPU 상 병렬 의사난수생성기)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모듈로-20 패턴 민감성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반복 LCG 정수 로직 테스트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페이드 (bit fade)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— 검증: 음성 대조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대조 — "양호한(known-good)" 상황에서 가짜 오류를 내지 않는지 확인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양호한 것으로 알려진 전원(PSU), 에어컨이 있는 통제 환경의 머신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GeForce 8800GTX에서 700 MiB에 대해 93,000회 이터레이션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8대의 Tesla C870 각각에서 320 MiB에 대해 180,000회 이상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단 한 번도 검출되지 않음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— 검증: 양성 대조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 대조 — 오류를 유발하는 상황에서 실제로 오류를 내는지 확인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오버클럭은 메모리 오류를 유발한다 (타이밍 제약 위반, 신호 무결성 손실)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GeForce 9500GT(기본 메모리 클럭 400MHz)를 400·420·430·440·450·475·500·530 MHz에서 시험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주파수마다 20회 이터레이션 (530MHz는 불안정으로 10회만)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사이에 냉각하고 400MHz로 리셋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— 검증 (양성 대조)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pic>
        <p:nvPicPr>
          <p:cNvPr id="4" name="Image 0" descr="images/chart_p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417320"/>
            <a:ext cx="1042416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 대조는 메모리 테스트의 패턴 민감성을 드러낸다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— Folding@home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오류율과 환경 민감성이 예상되므로, 다양한 환경의 많은 카드를 표본화해야 한다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7개월간 Folding@home의 50,000대 이상 NVIDIA GPU에서 실행 (840 TB-시간 이상의 테스트)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97% 이상이 64 MiB RAM, k=512 로직 LCG로 시험됨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— Folding@home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 소비자 제품군 전반과 일부 프로 카드까지 잘 표본화했다.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정격(stock)과 (셰이더) 오버클럭 보드를 비슷한 수로 표본화했다.</a:t>
            </a:r>
            <a:endParaRPr lang="en-US" sz="1600" dirty="0"/>
          </a:p>
        </p:txBody>
      </p:sp>
      <p:pic>
        <p:nvPicPr>
          <p:cNvPr id="5" name="Image 0" descr="images/chart_car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560320"/>
            <a:ext cx="54864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600200"/>
            <a:ext cx="4846320" cy="306324"/>
          </a:xfrm>
          <a:prstGeom prst="rect">
            <a:avLst/>
          </a:prstGeom>
          <a:solidFill>
            <a:srgbClr val="10243E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1600200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제품군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79838" y="1600200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300,000회 카드 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75120" y="1906524"/>
            <a:ext cx="4846320" cy="306324"/>
          </a:xfrm>
          <a:prstGeom prst="rect">
            <a:avLst/>
          </a:prstGeom>
          <a:solidFill>
            <a:srgbClr val="F4F6F9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1906524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 그래픽 카드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79838" y="1906524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17,648 (합계)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75120" y="2212848"/>
            <a:ext cx="484632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2212848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GeForce GTX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79838" y="2212848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5,520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75120" y="2519172"/>
            <a:ext cx="484632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2519172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GeForce 8800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79838" y="2519172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5,478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75120" y="2825496"/>
            <a:ext cx="484632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2825496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GeForce 9800/GTS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79838" y="2825496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4,923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675120" y="3131820"/>
            <a:ext cx="484632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3131820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GeForce 9600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79838" y="3131820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1,516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75120" y="3438144"/>
            <a:ext cx="484632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0" y="3438144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데스크톱 GeForce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679838" y="3438144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675120" y="3744468"/>
            <a:ext cx="484632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0" y="3744468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GeForce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679838" y="3744468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675120" y="4050792"/>
            <a:ext cx="4846320" cy="306324"/>
          </a:xfrm>
          <a:prstGeom prst="rect">
            <a:avLst/>
          </a:prstGeom>
          <a:solidFill>
            <a:srgbClr val="F4F6F9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66560" y="4050792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프로페셔널 그래픽 카드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679838" y="4050792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 (합계)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675120" y="4357116"/>
            <a:ext cx="484632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0" y="4357116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Quadro FX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679838" y="4357116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675120" y="4663440"/>
            <a:ext cx="484632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66560" y="4663440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Quadroplex 2200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679838" y="4663440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675120" y="4969764"/>
            <a:ext cx="4846320" cy="306324"/>
          </a:xfrm>
          <a:prstGeom prst="rect">
            <a:avLst/>
          </a:prstGeom>
          <a:solidFill>
            <a:srgbClr val="F4F6F9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66560" y="4969764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GPGPU 전용 카드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679838" y="4969764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(합계)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675120" y="5276088"/>
            <a:ext cx="484632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66560" y="5276088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Tesla T10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679838" y="5276088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675120" y="5582412"/>
            <a:ext cx="484632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B9C4D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66560" y="5582412"/>
            <a:ext cx="300471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Tesla C1060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679838" y="5582412"/>
            <a:ext cx="175016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(Results)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이터레이션 중 어느 한 테스트라도 실패하면 "실패"로 간주한다 (정확한 워드 오류율은 무시)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모델: 각 카드는 자기 고유의 오류(테스트 실패) 확률 Pf를 가진다. 카드들은 기저 분포 P(Pf)에서 독립·동일분포(iid)로 뽑힌다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그렇다면 실패 확률의 분포는 어떤 모습인가?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pic>
        <p:nvPicPr>
          <p:cNvPr id="4" name="Image 0" descr="images/chart_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65960" y="1417320"/>
            <a:ext cx="82296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카드 집단의 최빈값은 Pf ≈ 2×10⁻⁵ ≈ 주당 약 4회 실패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— 아키텍처별 분해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pic>
        <p:nvPicPr>
          <p:cNvPr id="4" name="Image 0" descr="images/chart_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57400" y="1417320"/>
            <a:ext cx="804672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GT200의 전형적 Pf = 2.2×10⁻⁶ (G80의 1/10!) · 두 아키텍처 모두 무오류 집단이 단조 감소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— GeForce vs Tesla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pic>
        <p:nvPicPr>
          <p:cNvPr id="4" name="Image 0" descr="images/chart_tesl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57400" y="1417320"/>
            <a:ext cx="804672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Tesla 곡선은 표본이 적어 거칠지만, GeForce와 같은 오류 분포를 나타내는 것으로 보인다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— 테스트 간 상호정보량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4480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간 상호정보량을 비선형 공분산 척도로 본다</a:t>
            </a:r>
            <a:endParaRPr lang="en-US" sz="19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모듈로-20 테스트는 독자적이다</a:t>
            </a:r>
            <a:endParaRPr lang="en-US" sz="19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블록 테스트는 좋은 로직 훈련이다</a:t>
            </a:r>
            <a:endParaRPr lang="en-US" sz="19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 테스트는 메모리 테스트와 구별되는 고장 모드를 측정한다</a:t>
            </a:r>
            <a:endParaRPr lang="en-US" sz="1900" dirty="0"/>
          </a:p>
        </p:txBody>
      </p:sp>
      <p:pic>
        <p:nvPicPr>
          <p:cNvPr id="5" name="Image 0" descr="images/chart_m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Fermi는 어떤가?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NVIDIA의 신형 Fermi(GF100) 아키텍처는 SECDED ECC(소비자 GeForce 라인에서는 비활성), GDDR5 메모리 버스 ECC, L1/L2 캐시를 추가했다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Fermi 재설계가 아키텍처적 취약성(오류율·오류 유형)에 영향을 주는가?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G80/GT200은 대개 모듈로-20 테스트에서 먼저 실패했다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FAH 테스트는 아직 Fermi에서 실행되지 않음 → 리포팅 기능이 있는 독립 MemtestG80 사용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사내: GeForce GTX 480 1대, Tesla C2050 1대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공개: GeForce GTX 470 44대, GeForce GTX 480 43대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Fermi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Tesla: 앱 레벨 오류는 없었으나, ECC가 더블비트 오류를 최소 1건 보고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GeForce: 대부분의 카드가 메모리 오류를 보임 — 사내 관측 Pf = 1.6×10⁻⁵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비오버클럭 카드는 8비트 워킹 제로에 취약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RAM 오버클럭 카드는 8·32비트 워킹 제로에서 먼저 실패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코어/셰이더 오버클럭 카드는 무작위 블록에서 실패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G80/GT200과는 매우 다른 취약성 — 그러나 문제는 여전히 존재한다!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AMD는… 그리고 CPU는?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RV700과 Evergreen 모두 GDDR5(저가 모델은 GDDR3)와 L1/L2 계층을 가진다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FAH에 OpenCL 코어가 없음 → 독립 MemtestCL의 자원자 제출을 사용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사내: Radeon 4870(RV770), Radeon 5870(Cypress)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· RV700: RV710 2, RV730 15, RV770 88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· Evergreen: Cedar 1, Redwood 6, Juniper 50, Cypress 103</a:t>
            </a:r>
            <a:endParaRPr lang="en-US" sz="2100" dirty="0"/>
          </a:p>
          <a:p>
            <a:pPr lvl="1" marL="355600" indent="-177800">
              <a:lnSpc>
                <a:spcPct val="112000"/>
              </a:lnSpc>
              <a:spcAft>
                <a:spcPts val="600"/>
              </a:spcAft>
              <a:buSzPct val="100000"/>
              <a:buChar char="–"/>
            </a:pPr>
            <a:r>
              <a:rPr lang="en-US" sz="1800" dirty="0">
                <a:solidFill>
                  <a:srgbClr val="445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CPU: Core i7 16, Core 2 11, Phenom/Athlon II 17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AMD + CPU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CPU: 오류가 관측되지 않음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RV770: 대개 무작위 블록/모듈로-20에서 실패 — Pf ≈ 7×10⁻⁴ 부근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Cypress: 거의 모든 카드가 결국 무작위 블록에서 실패 — Pf ≈ 4×10⁻⁴ 부근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오류 패턴(이터레이션당 실패 비트 수)이 의심스러움 — 소프트웨어(MemtestCL 또는 CL 런타임) 문제인지 AMD와 협력해 확인 중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감사의 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스탠퍼드 대학교 Pande 연구실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Simbios (NIH Roadmap GM072970)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AMD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Folding@home 기증자 여러분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메모리 오류를 시험하기 위해 MemtestG80을 작성했다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음성·양성 대조 시험으로 MemtestG80의 올바른 동작을 검증했다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50,000대 이상 GPU에서, 840 TB-시간 이상 MemtestG80을 실행했다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시험한 GPU의 2/3가 패턴에 민감한 소프트 오류를 보였다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아키텍처가 중요하다: GT200은 G80보다 훨씬 신뢰성이 높고, GF100은 새로운 취약성을 도입하며, AMD는 또 다른 이야기다</a:t>
            </a:r>
            <a:endParaRPr lang="en-US" sz="21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FAH의 GT200 Tesla 카드는 GeForce와 유사했다 (단, GF100 ECC는 Tesla C20xx에서 차이를 만드는 듯하다)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(Conclusions)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25296"/>
            <a:ext cx="10881360" cy="0"/>
          </a:xfrm>
          <a:prstGeom prst="line">
            <a:avLst/>
          </a:prstGeom>
          <a:noFill/>
          <a:ln w="25400">
            <a:solidFill>
              <a:srgbClr val="B9C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3736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명시적 테스트가 정당화될 만큼 하드 오류율이 충분히 높다 (2%).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b="1" dirty="0">
                <a:solidFill>
                  <a:srgbClr val="102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 있는 GPGPU 연산에는 어떤 형태의 ECC가 결정적으로 보인다.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5943600" cy="0"/>
          </a:xfrm>
          <a:prstGeom prst="line">
            <a:avLst/>
          </a:prstGeom>
          <a:noFill/>
          <a:ln w="19050">
            <a:solidFill>
              <a:srgbClr val="B9C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https://simtk.org/home/memtest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5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ihaque@cs.stanford.edu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2026-08-21T22:19:18Z</dcterms:created>
  <dcterms:modified xsi:type="dcterms:W3CDTF">2026-08-21T22:19:18Z</dcterms:modified>
</cp:coreProperties>
</file>