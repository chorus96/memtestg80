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회차가 MemtestG80를 교재로 택한 진짜 이유입니다 — 교과서적 병렬 리덕션이 실코드에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메모리 계층 전체 조망. 세션 2가 '범위(scope) 중첩'으로 봤다면, 여기선 '속도 계층 + MemtestG80 버퍼 대응'으로 봅니다. 공유 메모리가 리덕션의 무대임을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전역 원자연산을 피하고 계층적으로 줄이는 것이 GPU 리덕션의 정석. 3단계 구조를 각인시키세요.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왼쪽의 병목(모든 화살표가 한 점으로)과 오른쪽의 분산(계층적으로 좁아짐)을 시각적으로 대비시키세요.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__popc는 하드웨어 인트린식(단일 명령). XOR로 다른 비트만 남기고 그 개수를 센다는 흐름을 짚으세요.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8개 예시로 3단계면 끝. 512개면 9단계(log2 512). '절반씩 접는다'는 이미지를 손으로 그려 보이세요.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줄씩: 0으로 초기화 → 부분합 → 트리로 접기 → 대표 스레드(0)가 저장. 4*blockDim.x 바이트 공유 메모리를 launch에서 지정(core.cu:198).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배리어 = '모두 여기서 만나자'. 공유 메모리 협업에는 반드시 필요. 실습 랩에서 직접 빼보고 결과 흔들림을 관찰합니다.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공유 메모리는 리덕션뿐 아니라 '협업 버퍼'로도 쓰인다는 확장. 리덕션이 핵심이지만 두 사례로 일반화하세요.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 1은 이 세션의 하이라이트 — 동기화의 필요성을 몸으로 배웁니다. 반드시 원복하도록 안내하세요.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83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세미나 · 세션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2240280"/>
            <a:ext cx="10789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메모리와</a:t>
            </a:r>
            <a:endParaRPr lang="en-US" sz="4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5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리덕션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548640" y="4251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52만 개 스레드의 오류 수를 하나의 숫자로 — MemtestG80의 백미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7315200" cy="960120"/>
          </a:xfrm>
          <a:prstGeom prst="roundRect">
            <a:avLst>
              <a:gd name="adj" fmla="val 4762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175504"/>
            <a:ext cx="687628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threadErrorCount[threadIdx.x] += __popc(readback ^ constant);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(stride = blockDim.x&gt;&gt;1; stride&gt;0; stride&gt;&gt;=1) { ... }   // 트리 리덕션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955280" y="5486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 실제 소스로 배우는 CUDA · 입문 과정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목표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8212E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737360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00200" y="1682496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메모리 활용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extern __shared__ 로 블록 내 협업 버퍼를 만든다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88336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8212E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871216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00200" y="2816352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__popc 인트린식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600200" y="3191256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비트 개수를 세는 BITSDIFF의 원리를 안다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822192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8212E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4005072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3950208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트리 리덕션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600200" y="432511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stride를 반씩 줄이는 합산 패턴을 한 줄씩 설명한다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956048"/>
            <a:ext cx="11064240" cy="969264"/>
          </a:xfrm>
          <a:prstGeom prst="roundRect">
            <a:avLst>
              <a:gd name="adj" fmla="val 7547"/>
            </a:avLst>
          </a:prstGeom>
          <a:solidFill>
            <a:srgbClr val="18212E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5138928"/>
            <a:ext cx="603504" cy="603504"/>
          </a:xfrm>
          <a:prstGeom prst="roundRect">
            <a:avLst>
              <a:gd name="adj" fmla="val 50000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00200" y="5084064"/>
            <a:ext cx="9784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__syncthreads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600200" y="5458968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동기화가 없으면 리덕션이 틀리는지 안다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메모리 계층 · 공유 메모리는 어디에 있나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위로 갈수록 빠르고 작으며(스레드 전용), 아래로 갈수록 느리고 크다(공유 범위 넓음). 이 세션의 주인공은 2번 계층 — 공유 메모리.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0B111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920240"/>
            <a:ext cx="5358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레지스터 (register)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121408"/>
            <a:ext cx="5358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스레드 전용 · 가장 빠름 · 수 KB/스레드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724912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12212A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816352"/>
            <a:ext cx="5358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공유 메모리 / L1 (shared)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8368" y="3017520"/>
            <a:ext cx="5358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블록 전용 · 매우 빠름 · 수십 KB/블록  ★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621024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0B1119"/>
          </a:solidFill>
          <a:ln w="19050">
            <a:solidFill>
              <a:srgbClr val="9FB0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712464"/>
            <a:ext cx="5358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L2 캐시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" y="3913632"/>
            <a:ext cx="5358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전 SM 공유 · 빠름 · 수 MB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4517136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4608576"/>
            <a:ext cx="5358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전역 메모리 (global · VRAM)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" y="4809744"/>
            <a:ext cx="5358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모든 스레드 · 느림 · 수 GB · 테스트 대상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5248656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 온칩/디바이스     ▼ PCIe (cuMemcpy/cudaMemcpy)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5413248"/>
            <a:ext cx="5577840" cy="749808"/>
          </a:xfrm>
          <a:prstGeom prst="roundRect">
            <a:avLst>
              <a:gd name="adj" fmla="val 6098"/>
            </a:avLst>
          </a:prstGeom>
          <a:solidFill>
            <a:srgbClr val="0B1119"/>
          </a:solidFill>
          <a:ln w="19050">
            <a:solidFill>
              <a:srgbClr val="6B7D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5504688"/>
            <a:ext cx="53583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B7D9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호스트 메모리 (system RAM)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8368" y="5705856"/>
            <a:ext cx="5358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 측 · PCIe 경유로만 접근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30352" y="18105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빠름·작음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0352" y="59984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느림·큼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92240" y="1828800"/>
            <a:ext cx="5120640" cy="4224528"/>
          </a:xfrm>
          <a:prstGeom prst="roundRect">
            <a:avLst>
              <a:gd name="adj" fmla="val 1732"/>
            </a:avLst>
          </a:prstGeom>
          <a:solidFill>
            <a:srgbClr val="18212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19659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MemtestG80에서의 대응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20840" y="24688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레지스터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720840" y="27614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지역변수 — uint i, value, pattern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720840" y="33832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메모리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720840" y="36758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threadErrorCount[] (리덕션), LCG shmem, randomBlock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720840" y="42976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메모리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720840" y="45902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devTestMem (시험 대상), devTempMem (블록 오류)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720840" y="5212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 메모리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720840" y="550468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hostTempMem — 1024개 블록합 최종 합산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720840" y="56235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리덕션은 ④전역(느림)을 최소로 왕복하고 ②공유(빠름)에서 접어 합칩니다 — 그래서 빠릅니다.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· 52만 개의 부분합을 어떻게 합치나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스레드가 자기 word들을 검사해 오류 수를 셌습니다. 이제 전체 합이 필요합니다.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18212E"/>
          </a:solidFill>
          <a:ln w="19050">
            <a:solidFill>
              <a:srgbClr val="E660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2402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66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순진한 방법 ✗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800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스레드가 하나의 전역 카운터에 += ?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경쟁 조건(race) — 값이 뭉개짐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atomicAdd로 직렬화? → 52만 번 경합, 느림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메모리 왕복도 비쌈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205740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24028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MemtestG80의 방법 ✓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37960" y="2788920"/>
            <a:ext cx="4800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블록 안에서 공유 메모리로 트리 합산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블록당 결과 1개만 전역에 저장 (1024개)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그 1024개만 CPU로 복사해 최종 합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5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경합 없이, 로그 단계로 빠르게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가지 합산 전략 · 그림으로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18212E"/>
          </a:solidFill>
          <a:ln w="19050">
            <a:solidFill>
              <a:srgbClr val="E660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6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전역 원자합 (순진한 방법)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194560"/>
            <a:ext cx="822960" cy="548640"/>
          </a:xfrm>
          <a:prstGeom prst="roundRect">
            <a:avLst>
              <a:gd name="adj" fmla="val 8333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28600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801368" y="2194560"/>
            <a:ext cx="822960" cy="548640"/>
          </a:xfrm>
          <a:prstGeom prst="roundRect">
            <a:avLst>
              <a:gd name="adj" fmla="val 8333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11096" y="228600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34056" y="2194560"/>
            <a:ext cx="822960" cy="548640"/>
          </a:xfrm>
          <a:prstGeom prst="roundRect">
            <a:avLst>
              <a:gd name="adj" fmla="val 8333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43784" y="228600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66744" y="2194560"/>
            <a:ext cx="822960" cy="548640"/>
          </a:xfrm>
          <a:prstGeom prst="roundRect">
            <a:avLst>
              <a:gd name="adj" fmla="val 8333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6472" y="228600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99432" y="2194560"/>
            <a:ext cx="822960" cy="548640"/>
          </a:xfrm>
          <a:prstGeom prst="roundRect">
            <a:avLst>
              <a:gd name="adj" fmla="val 8333"/>
            </a:avLst>
          </a:prstGeom>
          <a:solidFill>
            <a:srgbClr val="0B1119"/>
          </a:solidFill>
          <a:ln w="19050">
            <a:solidFill>
              <a:srgbClr val="2C3A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286000"/>
            <a:ext cx="603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3A4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27614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… 52만 스레드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280160" y="2788920"/>
            <a:ext cx="1920240" cy="1051560"/>
          </a:xfrm>
          <a:prstGeom prst="line">
            <a:avLst/>
          </a:prstGeom>
          <a:noFill/>
          <a:ln w="15240">
            <a:solidFill>
              <a:srgbClr val="E6604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212848" y="2788920"/>
            <a:ext cx="987552" cy="1051560"/>
          </a:xfrm>
          <a:prstGeom prst="line">
            <a:avLst/>
          </a:prstGeom>
          <a:noFill/>
          <a:ln w="15240">
            <a:solidFill>
              <a:srgbClr val="E6604F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145536" y="2788920"/>
            <a:ext cx="54864" cy="1051560"/>
          </a:xfrm>
          <a:prstGeom prst="line">
            <a:avLst/>
          </a:prstGeom>
          <a:noFill/>
          <a:ln w="15240">
            <a:solidFill>
              <a:srgbClr val="E6604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078224" y="2788920"/>
            <a:ext cx="-877824" cy="1051560"/>
          </a:xfrm>
          <a:prstGeom prst="line">
            <a:avLst/>
          </a:prstGeom>
          <a:noFill/>
          <a:ln w="15240">
            <a:solidFill>
              <a:srgbClr val="E6604F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010912" y="2788920"/>
            <a:ext cx="-1810512" cy="1051560"/>
          </a:xfrm>
          <a:prstGeom prst="line">
            <a:avLst/>
          </a:prstGeom>
          <a:noFill/>
          <a:ln w="15240">
            <a:solidFill>
              <a:srgbClr val="E6604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286000" y="388620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2A1618"/>
          </a:solidFill>
          <a:ln w="19050">
            <a:solidFill>
              <a:srgbClr val="E660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95728" y="397764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6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카운터 1개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709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52만 번 경합·직렬화. 느리고, 락 없으면 값이 뭉개짐.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1554480"/>
            <a:ext cx="5303520" cy="4206240"/>
          </a:xfrm>
          <a:prstGeom prst="roundRect">
            <a:avLst>
              <a:gd name="adj" fmla="val 1739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계층 리덕션 (MemtestG80)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675120" y="2194560"/>
            <a:ext cx="1554480" cy="685800"/>
          </a:xfrm>
          <a:prstGeom prst="roundRect">
            <a:avLst>
              <a:gd name="adj" fmla="val 6667"/>
            </a:avLst>
          </a:prstGeom>
          <a:solidFill>
            <a:srgbClr val="0B1119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4848" y="228600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0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84848" y="242316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트리 합산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452360" y="2907792"/>
            <a:ext cx="0" cy="457200"/>
          </a:xfrm>
          <a:prstGeom prst="line">
            <a:avLst/>
          </a:prstGeom>
          <a:noFill/>
          <a:ln w="17780">
            <a:solidFill>
              <a:srgbClr val="3FB8C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086600" y="338328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12212A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96328" y="347472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412480" y="2194560"/>
            <a:ext cx="1554480" cy="685800"/>
          </a:xfrm>
          <a:prstGeom prst="roundRect">
            <a:avLst>
              <a:gd name="adj" fmla="val 6667"/>
            </a:avLst>
          </a:prstGeom>
          <a:solidFill>
            <a:srgbClr val="0B1119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22208" y="228600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522208" y="242316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트리 합산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189720" y="2907792"/>
            <a:ext cx="0" cy="457200"/>
          </a:xfrm>
          <a:prstGeom prst="line">
            <a:avLst/>
          </a:prstGeom>
          <a:noFill/>
          <a:ln w="17780">
            <a:solidFill>
              <a:srgbClr val="3FB8C4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823960" y="338328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12212A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33688" y="347472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0149840" y="2194560"/>
            <a:ext cx="1554480" cy="685800"/>
          </a:xfrm>
          <a:prstGeom prst="roundRect">
            <a:avLst>
              <a:gd name="adj" fmla="val 6667"/>
            </a:avLst>
          </a:prstGeom>
          <a:solidFill>
            <a:srgbClr val="0B1119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259568" y="228600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2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0259568" y="242316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FB0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트리 합산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10927080" y="2907792"/>
            <a:ext cx="0" cy="457200"/>
          </a:xfrm>
          <a:prstGeom prst="line">
            <a:avLst/>
          </a:prstGeom>
          <a:noFill/>
          <a:ln w="17780">
            <a:solidFill>
              <a:srgbClr val="3FB8C4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0561320" y="3383280"/>
            <a:ext cx="731520" cy="457200"/>
          </a:xfrm>
          <a:prstGeom prst="roundRect">
            <a:avLst>
              <a:gd name="adj" fmla="val 10000"/>
            </a:avLst>
          </a:prstGeom>
          <a:solidFill>
            <a:srgbClr val="12212A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671048" y="3474720"/>
            <a:ext cx="512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675120" y="3886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블록당 1개 (총 1024개)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961120" y="4160520"/>
            <a:ext cx="0" cy="320040"/>
          </a:xfrm>
          <a:prstGeom prst="line">
            <a:avLst/>
          </a:prstGeom>
          <a:noFill/>
          <a:ln w="2032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7772400" y="4526280"/>
            <a:ext cx="2377440" cy="548640"/>
          </a:xfrm>
          <a:prstGeom prst="roundRect">
            <a:avLst>
              <a:gd name="adj" fmla="val 8333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82128" y="4617720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최종 합 (1024개)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537960" y="51663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경합 없이 로그 단계로. GPU가 52만→1024, CPU가 마무리.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틀린 비트 세기 · __popc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005840"/>
          </a:xfrm>
          <a:prstGeom prst="roundRect">
            <a:avLst>
              <a:gd name="adj" fmla="val 4545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655064"/>
            <a:ext cx="106253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BITSDIFF(x,y) __popc((x) ^ (y))    // core.cu:28</a:t>
            </a:r>
            <a:endParaRPr lang="en-US" sz="1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__popc = population count = 1인 비트의 개수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8212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880360"/>
            <a:ext cx="10515600" cy="1371600"/>
          </a:xfrm>
          <a:prstGeom prst="roundRect">
            <a:avLst>
              <a:gd name="adj" fmla="val 3333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42416" y="3026664"/>
            <a:ext cx="100766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기대값 constant = 1111 1111 1111 1111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실제값 readback = 1111 1011 1111 0111   ← 2비트 손상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XOR (^)        = 0000 0100 0000 1000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66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__popc(XOR)    = 2                       ← 오류 2개로 집계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단순히 '맞다/틀리다'(1)가 아니라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뒤집힌 비트의 개수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셉니다. 한 word에서 여러 비트가 손상돼도 모두 포착 — 오류율 추정이 정밀해집니다.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 리덕션 · stride를 반씩 줄인다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배열의 값을 로그 단계로 접어 합칩니다. 512 → 256 → 128 → … → 1.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(stride=4)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26080" y="1965960"/>
            <a:ext cx="749808" cy="621792"/>
          </a:xfrm>
          <a:prstGeom prst="roundRect">
            <a:avLst>
              <a:gd name="adj" fmla="val 7353"/>
            </a:avLst>
          </a:prstGeom>
          <a:solidFill>
            <a:srgbClr val="0B1119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196596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785616" y="1965960"/>
            <a:ext cx="749808" cy="621792"/>
          </a:xfrm>
          <a:prstGeom prst="roundRect">
            <a:avLst>
              <a:gd name="adj" fmla="val 7353"/>
            </a:avLst>
          </a:prstGeom>
          <a:solidFill>
            <a:srgbClr val="0B1119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85616" y="196596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45152" y="1965960"/>
            <a:ext cx="749808" cy="621792"/>
          </a:xfrm>
          <a:prstGeom prst="roundRect">
            <a:avLst>
              <a:gd name="adj" fmla="val 7353"/>
            </a:avLst>
          </a:prstGeom>
          <a:solidFill>
            <a:srgbClr val="0B1119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196596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504688" y="1965960"/>
            <a:ext cx="749808" cy="621792"/>
          </a:xfrm>
          <a:prstGeom prst="roundRect">
            <a:avLst>
              <a:gd name="adj" fmla="val 7353"/>
            </a:avLst>
          </a:prstGeom>
          <a:solidFill>
            <a:srgbClr val="0B1119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04688" y="196596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64224" y="1965960"/>
            <a:ext cx="749808" cy="621792"/>
          </a:xfrm>
          <a:prstGeom prst="roundRect">
            <a:avLst>
              <a:gd name="adj" fmla="val 7353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64224" y="196596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223760" y="1965960"/>
            <a:ext cx="749808" cy="621792"/>
          </a:xfrm>
          <a:prstGeom prst="roundRect">
            <a:avLst>
              <a:gd name="adj" fmla="val 7353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196596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083296" y="1965960"/>
            <a:ext cx="749808" cy="621792"/>
          </a:xfrm>
          <a:prstGeom prst="roundRect">
            <a:avLst>
              <a:gd name="adj" fmla="val 7353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83296" y="196596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42832" y="1965960"/>
            <a:ext cx="749808" cy="621792"/>
          </a:xfrm>
          <a:prstGeom prst="roundRect">
            <a:avLst>
              <a:gd name="adj" fmla="val 7353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42832" y="196596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3063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후 (stride=2)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926080" y="2926080"/>
            <a:ext cx="749808" cy="621792"/>
          </a:xfrm>
          <a:prstGeom prst="roundRect">
            <a:avLst>
              <a:gd name="adj" fmla="val 7353"/>
            </a:avLst>
          </a:prstGeom>
          <a:solidFill>
            <a:srgbClr val="0B1119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292608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785616" y="2926080"/>
            <a:ext cx="749808" cy="621792"/>
          </a:xfrm>
          <a:prstGeom prst="roundRect">
            <a:avLst>
              <a:gd name="adj" fmla="val 7353"/>
            </a:avLst>
          </a:prstGeom>
          <a:solidFill>
            <a:srgbClr val="0B1119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85616" y="292608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645152" y="2926080"/>
            <a:ext cx="749808" cy="621792"/>
          </a:xfrm>
          <a:prstGeom prst="roundRect">
            <a:avLst>
              <a:gd name="adj" fmla="val 7353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292608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504688" y="2926080"/>
            <a:ext cx="749808" cy="621792"/>
          </a:xfrm>
          <a:prstGeom prst="roundRect">
            <a:avLst>
              <a:gd name="adj" fmla="val 7353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04688" y="292608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8640" y="4023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 후 (stride=1)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926080" y="3886200"/>
            <a:ext cx="749808" cy="621792"/>
          </a:xfrm>
          <a:prstGeom prst="roundRect">
            <a:avLst>
              <a:gd name="adj" fmla="val 7353"/>
            </a:avLst>
          </a:prstGeom>
          <a:solidFill>
            <a:srgbClr val="0B1119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926080" y="388620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3785616" y="3886200"/>
            <a:ext cx="749808" cy="621792"/>
          </a:xfrm>
          <a:prstGeom prst="roundRect">
            <a:avLst>
              <a:gd name="adj" fmla="val 7353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85616" y="388620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48640" y="4983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 후 = 블록 합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2926080" y="4846320"/>
            <a:ext cx="749808" cy="621792"/>
          </a:xfrm>
          <a:prstGeom prst="roundRect">
            <a:avLst>
              <a:gd name="adj" fmla="val 7353"/>
            </a:avLst>
          </a:prstGeom>
          <a:solidFill>
            <a:srgbClr val="241A16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26080" y="4846320"/>
            <a:ext cx="7498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각 단계: threadErrorCount[i] += threadErrorCount[i + stride]  — 절반의 스레드만 일함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완독 · deviceVerifyConstant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4114800"/>
          </a:xfrm>
          <a:prstGeom prst="roundRect">
            <a:avLst>
              <a:gd name="adj" fmla="val 1111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609344"/>
            <a:ext cx="10625328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__global__ void deviceVerifyConstant(uint* base, uint N, uint constant,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uint* blockErrorCount) {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extern __shared__ uint threadErrorCount[];        // 블록 공유 버퍼 (512개)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threadErrorCount[threadIdx.x] = 0;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(uint i = 0; i &lt; N; i++)                       // 내 word들 검사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threadErrorCount[threadIdx.x] += BITSDIFF(*(THREAD_ADDRESS(base,N,i)), constant);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(uint stride = blockDim.x&gt;&gt;1; stride &gt; 0; stride &gt;&gt;= 1) {   // 트리 리덕션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660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__syncthreads();                              // ★ 단계마다 동기화 필수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(threadIdx.x &lt; stride)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threadErrorCount[threadIdx.x] += threadErrorCount[threadIdx.x + stride];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(threadIdx.x == 0) blockErrorCount[blockIdx.x] = threadErrorCount[0];  // 대표 1개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core.cu:213 — 이 15줄이 세미나 전체에서 가장 밀도 높은 코드입니다.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__syncthreads가 없으면 틀리나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18212E"/>
          </a:solidFill>
          <a:ln w="19050">
            <a:solidFill>
              <a:srgbClr val="3FB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__syncthreads() 의 역할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안 모든 스레드가 이 지점에 도달할 때까지 대기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공유 메모리 쓰기가 서로에게 보이도록 보장하는 배리어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stride 단계는 이전 단계 결과에 의존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동기화 없이 읽으면 아직 안 써진 값을 읽음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645920"/>
            <a:ext cx="5349240" cy="4023360"/>
          </a:xfrm>
          <a:prstGeom prst="roundRect">
            <a:avLst>
              <a:gd name="adj" fmla="val 1818"/>
            </a:avLst>
          </a:prstGeom>
          <a:solidFill>
            <a:srgbClr val="18212E"/>
          </a:solidFill>
          <a:ln w="19050">
            <a:solidFill>
              <a:srgbClr val="E660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37960" y="18288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60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빠뜨리면?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377440"/>
            <a:ext cx="4800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일부 스레드가 앞서가 이웃의 옛 값을 더함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합계가 실행마다 달라짐 (비결정적)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0인데 0이 아니게 나오거나 그 반대</a:t>
            </a:r>
            <a:endParaRPr lang="en-US" sz="1450" dirty="0"/>
          </a:p>
          <a:p>
            <a:pPr marL="342900" indent="-342900">
              <a:lnSpc>
                <a:spcPct val="105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디버깅이 극도로 어려운 종류의 버그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3단계: 호스트가 마무리 · 공유 메모리 재활용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1737360"/>
          </a:xfrm>
          <a:prstGeom prst="roundRect">
            <a:avLst>
              <a:gd name="adj" fmla="val 2632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655064"/>
            <a:ext cx="1062532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6B7D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core.cu:195 — gpuVerifyConstant (호스트)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cudaMemcpy(errorCounts, blockErrorCount, sizeof(uint)*nBlocks, D2H);  // 1024개만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 totalErrors = 0;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(uint i = 0; i &lt; nBlocks; i++) totalErrors += errorCounts[i];    // ~1k 합산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7ED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totalErrors;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GPU는 52만 → 1024로 줄이고, CPU는 그 1024개만 더합니다. 각자 잘하는 일을 맡습니다.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8212E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605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공유 메모리, 다른 쓰임 — 세션 3에서 함께 보는 두 사례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617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deviceShortLCG0Shmem (core.cu:346) — LCG 중간값을 공유 메모리에 둬 셰이더 오버클럭 오류에 민감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deviceWriteRandomBlocks (core.cu:723) — 공유 메모리로 난수 블록을 병렬 생성 후 전역에 기록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1371600" y="3840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미리보기 · Lab 3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18212E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801368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E6604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377440" y="1819656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__syncthreads 빼보기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04672" y="269748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리덕션 동기화를 지워 합계가 흔들리는지 관찰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18212E"/>
          </a:solidFill>
          <a:ln/>
        </p:spPr>
      </p:sp>
      <p:sp>
        <p:nvSpPr>
          <p:cNvPr id="9" name="Text 7"/>
          <p:cNvSpPr/>
          <p:nvPr/>
        </p:nvSpPr>
        <p:spPr>
          <a:xfrm>
            <a:off x="6565392" y="1801368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38160" y="1819656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__popc 확인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65392" y="269748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손상 비트 수와 집계 오류 수가 일치하는지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18212E"/>
          </a:solidFill>
          <a:ln/>
        </p:spPr>
      </p:sp>
      <p:sp>
        <p:nvSpPr>
          <p:cNvPr id="13" name="Text 11"/>
          <p:cNvSpPr/>
          <p:nvPr/>
        </p:nvSpPr>
        <p:spPr>
          <a:xfrm>
            <a:off x="804672" y="4041648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3FB8C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77440" y="4059936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합 훔쳐보기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04672" y="4937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blockErrorCount를 출력해 분포 확인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9360" y="384048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18212E"/>
          </a:solidFill>
          <a:ln/>
        </p:spPr>
      </p:sp>
      <p:sp>
        <p:nvSpPr>
          <p:cNvPr id="17" name="Text 15"/>
          <p:cNvSpPr/>
          <p:nvPr/>
        </p:nvSpPr>
        <p:spPr>
          <a:xfrm>
            <a:off x="6565392" y="4041648"/>
            <a:ext cx="1417320" cy="502920"/>
          </a:xfrm>
          <a:prstGeom prst="roundRect">
            <a:avLst>
              <a:gd name="adj" fmla="val 14545"/>
            </a:avLst>
          </a:prstGeom>
          <a:solidFill>
            <a:srgbClr val="E8A33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17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 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38160" y="4059936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shmem 크기 실험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565392" y="4937760"/>
            <a:ext cx="47914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메모리 지정을 바꿔 동작 변화 관찰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7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세션 예고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9659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4 · 테스트 알고리즘과 성능 측정</a:t>
            </a:r>
            <a:endParaRPr lang="en-US" sz="3700" dirty="0"/>
          </a:p>
        </p:txBody>
      </p:sp>
      <p:sp>
        <p:nvSpPr>
          <p:cNvPr id="4" name="Text 2"/>
          <p:cNvSpPr/>
          <p:nvPr/>
        </p:nvSpPr>
        <p:spPr>
          <a:xfrm>
            <a:off x="548640" y="30632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뼈대를 알았으니, 그 위에 세운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FB8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13종 테스트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E7E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훑고, 대역폭을 CUDA로 재는 법을 배웁니다.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937760"/>
            <a:ext cx="8412480" cy="1005840"/>
          </a:xfrm>
          <a:prstGeom prst="roundRect">
            <a:avLst>
              <a:gd name="adj" fmla="val 4545"/>
            </a:avLst>
          </a:prstGeom>
          <a:solidFill>
            <a:srgbClr val="0B1119"/>
          </a:solidFill>
          <a:ln w="12700">
            <a:solidFill>
              <a:srgbClr val="2C3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5084064"/>
            <a:ext cx="7973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F2C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Walking bits · Modulo-20 · Logic(LCG) · Random blocks</a:t>
            </a:r>
            <a:endParaRPr lang="en-US" sz="12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FB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gpuMemoryBandwidth →  D2D cudaMemcpy로 대역폭 측정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FB0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랩 3(리덕션)을 먼저 완료하고 오세요.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2026-08-22T05:03:04Z</dcterms:created>
  <dcterms:modified xsi:type="dcterms:W3CDTF">2026-08-22T05:03:04Z</dcterms:modified>
</cp:coreProperties>
</file>