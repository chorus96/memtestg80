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세션 1의 write 커널을 read 커널과 짝지어 완결하는 회차입니다.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테스트 '대상'은 전역 메모리. 공유 메모리는 '도구'로 쓰인다는 구분을 명확히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중첩 상자로 '범위'를 시각화: 전역 ⊃ (블록별)공유 ⊃ (스레드별)레지스터. 넓을수록 느리다는 대응을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N(loopIters) = MB/2 인 이유: 2·N MiB가 한 그리드 용량이므로. 이 세 버퍼가 이후 모든 테스트의 재료입니다.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SOFTWAIT는 스핀 대신 슬립 폴링으로 커널 완료를 기다리는 매크로(core.h:49). 커널 경계 = 메모리 배리어 개념을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cudaStreamQuery로 완료 폴링. 타임아웃 센티넬(0xFFFFFFFE)은 세션 4·5의 오류 관례와 연결됩니다.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시퀀스 다이어그램: 화살표 방향이 명령/데이터 흐름. write→wait→verify→memcpy D2H→합산의 시간 순서를 짚으세요.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Memtest86 Test 2 계보. 세션 1의 write 커널이 여기서 verify와 짝을 이뤄 완결됩니다.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2는 검증 로직이 정말 오류를 잡는지 확인하는 핵심 실습입니다.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83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세미나 · 세션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24028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모델과</a:t>
            </a:r>
            <a:endParaRPr lang="en-US" sz="4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쓰기·검증 패턴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548640" y="4251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메모리 테스트의 뼈대: 쓰고 → 되읽어 비교한다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7315200" cy="960120"/>
          </a:xfrm>
          <a:prstGeom prst="roundRect">
            <a:avLst>
              <a:gd name="adj" fmla="val 4762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175504"/>
            <a:ext cx="68762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gpuWriteConstant(..., 0xFFFFFFFF);   // 쓰기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errorCount = gpuVerifyConstant(..., 0xFFFFFFFF);   // 검증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95528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 실제 소스로 배우는 CUDA · 입문 과정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3736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682496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메모리 계층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전역(global)·공유(shared)·레지스터의 역할을 구분한다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88336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871216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16352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할당·전송 API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00200" y="319125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cudaMalloc·cudaMemcpy·cudaFree를 어디에 쓰는지 안다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22192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4005072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3950208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쓰기→검증 패턴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00200" y="43251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커널을 나눠 실행하는지(메모리 반영) 설명할 수 있다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560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513892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5084064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Moving Inversions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00200" y="545896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패턴과 그 보수를 번갈아 쓰는 고전 알고리즘을 이해한다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메모리 계층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44240" cy="4114800"/>
          </a:xfrm>
          <a:prstGeom prst="roundRect">
            <a:avLst>
              <a:gd name="adj" fmla="val 2124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874520"/>
            <a:ext cx="2932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메모리 (global)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04672" y="2743200"/>
            <a:ext cx="293217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크고 느림 (VRAM 수 GB)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스레드가 접근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테스트 대상 = 이 메모리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cudaMalloc으로 할당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58640" y="1645920"/>
            <a:ext cx="3444240" cy="4114800"/>
          </a:xfrm>
          <a:prstGeom prst="roundRect">
            <a:avLst>
              <a:gd name="adj" fmla="val 2124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4672" y="1874520"/>
            <a:ext cx="2932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메모리 (shared)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4672" y="2743200"/>
            <a:ext cx="293217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안에서만 공유, 빠름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 __shared__ 로 선언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리덕션·LCG에 사용 (세션 3)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블록당 수십 KB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68640" y="1645920"/>
            <a:ext cx="3444240" cy="4114800"/>
          </a:xfrm>
          <a:prstGeom prst="roundRect">
            <a:avLst>
              <a:gd name="adj" fmla="val 2124"/>
            </a:avLst>
          </a:prstGeom>
          <a:solidFill>
            <a:srgbClr val="18212E"/>
          </a:solidFill>
          <a:ln w="19050">
            <a:solidFill>
              <a:srgbClr val="9FB0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24672" y="1874520"/>
            <a:ext cx="2932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레지스터 (register)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24672" y="2743200"/>
            <a:ext cx="293217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전용, 가장 빠름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변수 (uint i, value)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개수 제한 → 세션 3 -Xptxas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관리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MemtestG80은 이 세 계층을 모두 활용합니다 — 그래서 좋은 교재입니다.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계층 · 범위(scope)로 보기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계층은 접근 범위가 서로 다릅니다. 큰 범위일수록 느리고, 좁을수록 빠릅니다.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7589520" cy="3794760"/>
          </a:xfrm>
          <a:prstGeom prst="roundRect">
            <a:avLst>
              <a:gd name="adj" fmla="val 1928"/>
            </a:avLst>
          </a:prstGeom>
          <a:solidFill>
            <a:srgbClr val="141A24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391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메모리 (global) · 모든 스레드 공유 · 테스트 대상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560320"/>
            <a:ext cx="3429000" cy="2926080"/>
          </a:xfrm>
          <a:prstGeom prst="roundRect">
            <a:avLst>
              <a:gd name="adj" fmla="val 2500"/>
            </a:avLst>
          </a:prstGeom>
          <a:solidFill>
            <a:srgbClr val="12212A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6700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메모리 (shared) · 블록 0 전용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97280" y="3127248"/>
            <a:ext cx="1417320" cy="868680"/>
          </a:xfrm>
          <a:prstGeom prst="roundRect">
            <a:avLst>
              <a:gd name="adj" fmla="val 5263"/>
            </a:avLst>
          </a:prstGeom>
          <a:solidFill>
            <a:srgbClr val="0B1119"/>
          </a:solidFill>
          <a:ln w="19050">
            <a:solidFill>
              <a:srgbClr val="9FB0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321868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07008" y="3538728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스레드 전용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97480" y="3127248"/>
            <a:ext cx="1417320" cy="868680"/>
          </a:xfrm>
          <a:prstGeom prst="roundRect">
            <a:avLst>
              <a:gd name="adj" fmla="val 5263"/>
            </a:avLst>
          </a:prstGeom>
          <a:solidFill>
            <a:srgbClr val="0B1119"/>
          </a:solidFill>
          <a:ln w="19050">
            <a:solidFill>
              <a:srgbClr val="9FB0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07208" y="321868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07208" y="3538728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스레드 전용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97280" y="4178808"/>
            <a:ext cx="1417320" cy="868680"/>
          </a:xfrm>
          <a:prstGeom prst="roundRect">
            <a:avLst>
              <a:gd name="adj" fmla="val 5263"/>
            </a:avLst>
          </a:prstGeom>
          <a:solidFill>
            <a:srgbClr val="0B1119"/>
          </a:solidFill>
          <a:ln w="19050">
            <a:solidFill>
              <a:srgbClr val="9FB0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427024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07008" y="4590288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스레드 전용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97480" y="4178808"/>
            <a:ext cx="1417320" cy="868680"/>
          </a:xfrm>
          <a:prstGeom prst="roundRect">
            <a:avLst>
              <a:gd name="adj" fmla="val 5263"/>
            </a:avLst>
          </a:prstGeom>
          <a:solidFill>
            <a:srgbClr val="0B1119"/>
          </a:solidFill>
          <a:ln w="19050">
            <a:solidFill>
              <a:srgbClr val="9FB0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07208" y="427024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07208" y="4590288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스레드 전용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2560320"/>
            <a:ext cx="3429000" cy="2926080"/>
          </a:xfrm>
          <a:prstGeom prst="roundRect">
            <a:avLst>
              <a:gd name="adj" fmla="val 2500"/>
            </a:avLst>
          </a:prstGeom>
          <a:solidFill>
            <a:srgbClr val="12212A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6700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메모리 (shared) · 블록 1 전용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709160" y="3127248"/>
            <a:ext cx="1417320" cy="868680"/>
          </a:xfrm>
          <a:prstGeom prst="roundRect">
            <a:avLst>
              <a:gd name="adj" fmla="val 5263"/>
            </a:avLst>
          </a:prstGeom>
          <a:solidFill>
            <a:srgbClr val="0B1119"/>
          </a:solidFill>
          <a:ln w="19050">
            <a:solidFill>
              <a:srgbClr val="9FB0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321868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레지스터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18888" y="3538728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스레드 전용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3127248"/>
            <a:ext cx="1417320" cy="868680"/>
          </a:xfrm>
          <a:prstGeom prst="roundRect">
            <a:avLst>
              <a:gd name="adj" fmla="val 5263"/>
            </a:avLst>
          </a:prstGeom>
          <a:solidFill>
            <a:srgbClr val="0B1119"/>
          </a:solidFill>
          <a:ln w="19050">
            <a:solidFill>
              <a:srgbClr val="9FB0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9088" y="321868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19088" y="3538728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스레드 전용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4178808"/>
            <a:ext cx="1417320" cy="868680"/>
          </a:xfrm>
          <a:prstGeom prst="roundRect">
            <a:avLst>
              <a:gd name="adj" fmla="val 5263"/>
            </a:avLst>
          </a:prstGeom>
          <a:solidFill>
            <a:srgbClr val="0B1119"/>
          </a:solidFill>
          <a:ln w="19050">
            <a:solidFill>
              <a:srgbClr val="9FB0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427024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레지스터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818888" y="4590288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스레드 전용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09360" y="4178808"/>
            <a:ext cx="1417320" cy="868680"/>
          </a:xfrm>
          <a:prstGeom prst="roundRect">
            <a:avLst>
              <a:gd name="adj" fmla="val 5263"/>
            </a:avLst>
          </a:prstGeom>
          <a:solidFill>
            <a:srgbClr val="0B1119"/>
          </a:solidFill>
          <a:ln w="19050">
            <a:solidFill>
              <a:srgbClr val="9FB0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9088" y="427024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레지스터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19088" y="4590288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스레드 전용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680960" y="1920240"/>
            <a:ext cx="3931920" cy="3794760"/>
          </a:xfrm>
          <a:prstGeom prst="roundRect">
            <a:avLst>
              <a:gd name="adj" fmla="val 1928"/>
            </a:avLst>
          </a:prstGeom>
          <a:solidFill>
            <a:srgbClr val="18212E"/>
          </a:solidFill>
          <a:ln/>
        </p:spPr>
      </p:sp>
      <p:sp>
        <p:nvSpPr>
          <p:cNvPr id="36" name="Text 34"/>
          <p:cNvSpPr/>
          <p:nvPr/>
        </p:nvSpPr>
        <p:spPr>
          <a:xfrm>
            <a:off x="7909560" y="2057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빠르기 / 크기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909560" y="2560320"/>
            <a:ext cx="3474720" cy="868680"/>
          </a:xfrm>
          <a:prstGeom prst="roundRect">
            <a:avLst>
              <a:gd name="adj" fmla="val 5263"/>
            </a:avLst>
          </a:prstGeom>
          <a:solidFill>
            <a:srgbClr val="0B1119"/>
          </a:solidFill>
          <a:ln w="19050">
            <a:solidFill>
              <a:srgbClr val="9FB0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19288" y="2651760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레지스터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019288" y="2971800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가장 빠름 · 가장 작음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909560" y="3566160"/>
            <a:ext cx="3474720" cy="868680"/>
          </a:xfrm>
          <a:prstGeom prst="roundRect">
            <a:avLst>
              <a:gd name="adj" fmla="val 5263"/>
            </a:avLst>
          </a:prstGeom>
          <a:solidFill>
            <a:srgbClr val="0B1119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19288" y="3657600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메모리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019288" y="3977640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빠름 · 블록당 수십 KB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909560" y="4572000"/>
            <a:ext cx="3474720" cy="868680"/>
          </a:xfrm>
          <a:prstGeom prst="roundRect">
            <a:avLst>
              <a:gd name="adj" fmla="val 5263"/>
            </a:avLst>
          </a:prstGeom>
          <a:solidFill>
            <a:srgbClr val="0B111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19288" y="4663440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메모리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019288" y="4983480"/>
            <a:ext cx="3255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느림 · 수 GB (VRAM)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'대상'은 전역 메모리. 공유 메모리는 리덕션의 '도구'입니다(세션 3).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할당 · memtestState::allocate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2286000"/>
          </a:xfrm>
          <a:prstGeom prst="roundRect">
            <a:avLst>
              <a:gd name="adj" fmla="val 2000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655064"/>
            <a:ext cx="1062532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core.cu:51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 memtestState::allocate(uint mbToTest) {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(mbToTest % 2) mbToTest++;              // 2MiB 단위로 반올림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megsToTest = mbToTest;  loopIters = megsToTest/2;   // N = MB/2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cudaMalloc(&amp;devTestMem, (size_t)megsToTest*1048576);  // 테스트 영역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cudaMalloc(&amp;devTempMem, sizeof(uint)*nBlocks);        // 블록별 오류 수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hostTempMem = (uint*)malloc(sizeof(uint)*nBlocks);    // 호스트 사본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devTestMem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4114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검사할 전역 메모리 (수백 MB~GB)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6817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devTempMem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46817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블록마다 오류 수 1개 — nBlocks(1024)개의 uint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52486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hostTempMem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524865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devTempMem을 CPU로 복사해 최종 합산할 버퍼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테스트의 뼈대 · 쓰고 → 되읽는다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쓰기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알려진 비트 패턴을 전 영역에 기록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deviceWriteConstant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86200" y="28346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480560" y="182880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종료 대기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3017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SOFTWAIT()로 GPU 완료를 기다림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메모리에 값이 확실히 반영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18120" y="283464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412480" y="182880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4108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되읽고 검증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41080" y="3017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기대값과 비교, 틀린 비트 수 집계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deviceVerifyConstant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074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쓰기와 읽기를 나눌까?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커널이 끝나야 모든 스레드의 쓰기가 전역 메모리에 확실히 반영됩니다. 그 다음에 읽어야 올바른 값을 검증할 수 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완료 기다리기 · SOFTWAIT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launch는 비동기 — 호스트는 곧바로 리턴합니다. 결과를 읽기 전에 GPU 완료를 기다려야 합니다.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2194560"/>
          </a:xfrm>
          <a:prstGeom prst="roundRect">
            <a:avLst>
              <a:gd name="adj" fmla="val 2083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112264"/>
            <a:ext cx="1062532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core.h:40 — 스핀 대신 슬립하며 폴링 (드라이버 스핀웨이트 회피)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inline int _pollStatus(unsigned length=1, unsigned limit=15000) {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unsigned startTime = getTimeMilliseconds();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(cudaStreamQuery(0) == cudaErrorNotReady) {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6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((getTimeMilliseconds() - startTime) &gt; limit) return -1;  // 타임아웃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SLEEPMS(length);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SOFTWAIT() if (_pollStatus() != 0) { return 0xFFFFFFFE; }  // 타임아웃 센티넬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15초 안에 커널이 안 끝나면 타임아웃 → 0xFFFFFFFE 반환. 디스플레이 구동 GPU의 워치독 대비책.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쓰기·검증의 시간 순서 (시퀀스)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호스트와 디바이스 사이에 명령·데이터가 오가는 순서입니다. 위에서 아래로 시간이 흐릅니다.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88720" y="182880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828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(CPU)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182880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0" y="18288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 (GPU)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51760" y="2514600"/>
            <a:ext cx="0" cy="3108960"/>
          </a:xfrm>
          <a:prstGeom prst="line">
            <a:avLst/>
          </a:prstGeom>
          <a:noFill/>
          <a:ln w="19050">
            <a:solidFill>
              <a:srgbClr val="2C3A4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9509760" y="2514600"/>
            <a:ext cx="0" cy="3108960"/>
          </a:xfrm>
          <a:prstGeom prst="line">
            <a:avLst/>
          </a:prstGeom>
          <a:noFill/>
          <a:ln w="19050">
            <a:solidFill>
              <a:srgbClr val="2C3A4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651760" y="2971800"/>
            <a:ext cx="6858000" cy="0"/>
          </a:xfrm>
          <a:prstGeom prst="line">
            <a:avLst/>
          </a:prstGeom>
          <a:noFill/>
          <a:ln w="25400">
            <a:solidFill>
              <a:srgbClr val="3FB8C4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651760" y="25877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gpuWriteConstant&lt;&lt;&lt;&gt;&gt;&gt;  (패턴 쓰기)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68880" y="355701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SOFTWAIT — 커널 완료까지 대기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651760" y="4471416"/>
            <a:ext cx="6858000" cy="0"/>
          </a:xfrm>
          <a:prstGeom prst="line">
            <a:avLst/>
          </a:prstGeom>
          <a:noFill/>
          <a:ln w="25400">
            <a:solidFill>
              <a:srgbClr val="3FB8C4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651760" y="40873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gpuVerifyConstant&lt;&lt;&lt;&gt;&gt;&gt;  (되읽어 __popc)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651760" y="5221224"/>
            <a:ext cx="68580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  <a:headEnd type="triangle"/>
          </a:ln>
        </p:spPr>
      </p:sp>
      <p:sp>
        <p:nvSpPr>
          <p:cNvPr id="17" name="Text 15"/>
          <p:cNvSpPr/>
          <p:nvPr/>
        </p:nvSpPr>
        <p:spPr>
          <a:xfrm>
            <a:off x="2651760" y="483717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cudaMemcpy D2H — 블록별 오류 수 1024개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468880" y="58064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호스트가 최종 합산 → errorCount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실행 요청(→)은 비동기지만, 결과를 가져오는 cudaMemcpy(←) 전에 검증 커널이 끝나 있어야 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Moving Inversions · 가장 고전적인 테스트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2103120"/>
          </a:xfrm>
          <a:prstGeom prst="roundRect">
            <a:avLst>
              <a:gd name="adj" fmla="val 2174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655064"/>
            <a:ext cx="1062532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core.cu:370 — gpuMovingInversionsOnesZeros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gpuWriteConstant (..., 0xFFFFFFFF);          // 전부 1을 쓴다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  = gpuVerifyConstant(..., 0xFFFFFFFF);   // 1이 유지되는지 검증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gpuWriteConstant (..., 0x0);                 // 보수(전부 0)를 덮어쓴다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 += gpuVerifyConstant(..., 0x0);          // 0이 유지되는지 검증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err;                                  // 두 위상의 오류 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1148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셀이 1과 0을 모두 안정적으로 저장하는지 검사 (stuck-at 결함 검출)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패턴을 쓴 뒤 보수로 덮어써, 이웃 셀이 값을 오염시키는지(간섭)도 확인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 변형(core.cu:527)은 상수 대신 난수를 써서 값 의존적 결함을 노린다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미리보기 · Lab 2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18212E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80136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148840" y="181965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바꿔보기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69748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gpuWriteConstant의 상수를 0xAAAAAAAA 등으로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18212E"/>
          </a:solidFill>
          <a:ln/>
        </p:spPr>
      </p:sp>
      <p:sp>
        <p:nvSpPr>
          <p:cNvPr id="9" name="Text 7"/>
          <p:cNvSpPr/>
          <p:nvPr/>
        </p:nvSpPr>
        <p:spPr>
          <a:xfrm>
            <a:off x="6565392" y="180136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909560" y="181965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인위 주입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65392" y="269748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일부러 메모리를 훼손해 오류 검출 재현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18212E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4041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148840" y="4059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cpuVerify와 비교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4672" y="4937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버전(core.cu:254)과 결과·속도 비교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9360" y="384048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18212E"/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4041648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909560" y="4059936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N(loopIters) 관찰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65392" y="4937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MB를 바꿔 N이 어떻게 변하는지 출력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세션 예고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3 · 공유 메모리와 병렬 리덕션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52만 개 스레드가 각자 센 오류 수를, 어떻게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숫자로 합칠까?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MemtestG80의 가장 우아한 코드를 만납니다.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937760"/>
            <a:ext cx="8412480" cy="1005840"/>
          </a:xfrm>
          <a:prstGeom prst="roundRect">
            <a:avLst>
              <a:gd name="adj" fmla="val 4545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084064"/>
            <a:ext cx="7973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__popc(x ^ constant)   →  뒤집힌 비트 개수를 센다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트리 리덕션           →  블록 안에서 병렬로 합산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랩 2(쓰기·검증)를 먼저 완료하고 오세요.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2026-08-21T21:35:27Z</dcterms:created>
  <dcterms:modified xsi:type="dcterms:W3CDTF">2026-08-21T21:35:27Z</dcterms:modified>
</cp:coreProperties>
</file>