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부록 1과의 관계를 먼저 짚고, 이 부록은 '축소 과정' 자체가 학습 대상임을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1~3은 부가 기능 제거, 4~6은 핵심만 남기는 구조 정리. 단계마다 g++ 문법 검증으로 안전하게 진행.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규모가 준 것 자체보다, 남은 293줄이 '필수 골격'이라는 점을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driver_api/는 core+cli+ezOptionParser 다중 파일. 여기서는 호스트 컴파일 단위가 cli.cpp 하나.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호스트 컴파일 단위가 하나로 줄어든 것이 driver_api/ 대비 가장 큰 구조 변화.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파일에서 위→아래로 읽히는 순서. cuModuleLoad 를 앰버로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 두 verify 스텝이 오른쪽 write/verify 내부를 호출. 3핵심은 아무리 덜어내도 남는다.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남긴 것 = '드라이버 API로 커널 하나를 돌리는 최소 집합'. 이 대비가 이 부록의 결론.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83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 세미나 · 부록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224028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5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Driver API 최소 예제</a:t>
            </a:r>
            <a:endParaRPr lang="en-US" sz="4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5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만들기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548640" y="4251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driver_api_study — 덜어내며 배우는 커널 로딩·실행의 뼈대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0"/>
            <a:ext cx="7315200" cy="960120"/>
          </a:xfrm>
          <a:prstGeom prst="roundRect">
            <a:avLst>
              <a:gd name="adj" fmla="val 4762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5175504"/>
            <a:ext cx="687628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D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driver_api/  (1,049줄 + ezOptionParser ~2,100줄)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 driver_api_study/  (293줄 · 단일 호스트 파일)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95528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7D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MemtestG80 실제 소스로 배우는 CUDA · 입문 과정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3FB8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 부록인가 · 덜어내며 배운다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1은 개념(포팅), 부록 2는 그것을 교육용으로 최소화한 과정을 다룹니다.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18212E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848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1 — driver_api/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런타임 API → 드라이버 API 포팅
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빌드·커널 로딩 원리를 드러냄
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여전히 실제 도구 (13종 테스트 등)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92024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18212E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20848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2 — driver_api_study/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37960" y="256032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CUDA와 무관한 코드를 걷어냄
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 2개 + 호스트 1파일만 남김
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것 = 커널 로딩·실행 최소 집합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4348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12212A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617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질문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"무엇을 덜어내면 CUDA Driver API로 커널을 로드·실행하는 최소 골격이 드러나는가?"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덜어내면서 무엇이 필수였는지 배운다. 남은 코드가 곧 GPU 커널 하나를 돌리는 데 필요한 최소 집합.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간결화 6단계 · driver_api → driver_api_study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1F2A3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18488"/>
            <a:ext cx="502920" cy="493776"/>
          </a:xfrm>
          <a:prstGeom prst="roundRect">
            <a:avLst>
              <a:gd name="adj" fmla="val 51852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508760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ezOptionParser.hpp 제거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92240" y="1508760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서드파티 인자 파서 → 표준 C++ 파싱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313432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18212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423160"/>
            <a:ext cx="502920" cy="493776"/>
          </a:xfrm>
          <a:prstGeom prst="roundRect">
            <a:avLst>
              <a:gd name="adj" fmla="val 51852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2313432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라이선스 출력 제거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92240" y="2313432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-l/--license · print_licensing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118104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1F2A3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27832"/>
            <a:ext cx="502920" cy="493776"/>
          </a:xfrm>
          <a:prstGeom prst="roundRect">
            <a:avLst>
              <a:gd name="adj" fmla="val 51852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3118104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대역폭 측정 제거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92240" y="3118104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D2D 복사 + gpuMemoryBandwidth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922776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18212E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032504"/>
            <a:ext cx="502920" cy="493776"/>
          </a:xfrm>
          <a:prstGeom prst="roundRect">
            <a:avLst>
              <a:gd name="adj" fmla="val 51852"/>
            </a:avLst>
          </a:prstGeom>
          <a:solidFill>
            <a:srgbClr val="3FB8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392277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13종 테스트 → 1종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92240" y="392277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Moving Inversions (ones/zeros)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727448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1F2A3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837176"/>
            <a:ext cx="502920" cy="493776"/>
          </a:xfrm>
          <a:prstGeom prst="roundRect">
            <a:avLst>
              <a:gd name="adj" fmla="val 51852"/>
            </a:avLst>
          </a:prstGeom>
          <a:solidFill>
            <a:srgbClr val="3FB8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63040" y="4727448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미사용 커널·함수 정리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92240" y="4727448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LCG·워킹·랜덤·모듈로 커널, PRNG 헬퍼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53212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18212E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641848"/>
            <a:ext cx="502920" cy="493776"/>
          </a:xfrm>
          <a:prstGeom prst="roundRect">
            <a:avLst>
              <a:gd name="adj" fmla="val 51852"/>
            </a:avLst>
          </a:prstGeom>
          <a:solidFill>
            <a:srgbClr val="3FB8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63040" y="5532120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배너·경로 단순화 + core 병합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492240" y="5532120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core.{h,cpp} → cli.cpp (단일 파일)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· 소스 규모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03520" cy="2377440"/>
          </a:xfrm>
          <a:prstGeom prst="roundRect">
            <a:avLst>
              <a:gd name="adj" fmla="val 3077"/>
            </a:avLst>
          </a:prstGeom>
          <a:solidFill>
            <a:srgbClr val="18212E"/>
          </a:solidFill>
          <a:ln w="19050">
            <a:solidFill>
              <a:srgbClr val="9FB0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driver_api/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1,049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77240" y="32918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D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호스트+커널 코드 줄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D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ezOptionParser.hpp ~2,100줄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852160" y="26517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309360" y="1737360"/>
            <a:ext cx="5303520" cy="2377440"/>
          </a:xfrm>
          <a:prstGeom prst="roundRect">
            <a:avLst>
              <a:gd name="adj" fmla="val 3077"/>
            </a:avLst>
          </a:prstGeom>
          <a:solidFill>
            <a:srgbClr val="18212E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driver_api_study/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09360" y="22860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293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6537960" y="32918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 59줄 + 호스트 234줄 (단일 파일)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서드파티 0줄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8212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480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D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44805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driver_api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83880" y="44805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8006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 *.cu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0" y="480060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295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183880" y="480060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59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" y="511149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 *.h+*.cpp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0" y="511149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754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183880" y="511149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234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" y="54223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서드파티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0" y="54223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~2,100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183880" y="54223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3FB8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구조 · 파일 3개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051560"/>
          </a:xfrm>
          <a:prstGeom prst="roundRect">
            <a:avLst>
              <a:gd name="adj" fmla="val 4348"/>
            </a:avLst>
          </a:prstGeom>
          <a:solidFill>
            <a:srgbClr val="241A16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920240"/>
            <a:ext cx="10844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memtestG80_kernels.cu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2423160"/>
            <a:ext cx="10844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디바이스 커널 2개 → cubin  (deviceWriteConstant · deviceVerifyConstant)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11064240" cy="1051560"/>
          </a:xfrm>
          <a:prstGeom prst="roundRect">
            <a:avLst>
              <a:gd name="adj" fmla="val 4348"/>
            </a:avLst>
          </a:prstGeom>
          <a:solidFill>
            <a:srgbClr val="12212A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3200400"/>
            <a:ext cx="10844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memtestG80_cli.cpp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3703320"/>
            <a:ext cx="10844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단일 호스트 파일 — 인자 파싱 · 컨텍스트 · cubin 로드 · 모듈 관리 · 대표 테스트 · 정리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4389120"/>
            <a:ext cx="11064240" cy="868680"/>
          </a:xfrm>
          <a:prstGeom prst="roundRect">
            <a:avLst>
              <a:gd name="adj" fmla="val 5263"/>
            </a:avLst>
          </a:prstGeom>
          <a:solidFill>
            <a:srgbClr val="18212E"/>
          </a:solidFill>
          <a:ln w="19050">
            <a:solidFill>
              <a:srgbClr val="9FB0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4480560"/>
            <a:ext cx="10844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Makefile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" y="4800600"/>
            <a:ext cx="10844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cubin(nvcc) + 호스트 단일 파일(g++ -lcuda)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 코드가 파일 하나 → Driver API 흐름을 위에서 아래로 한 번에 읽을 수 있다.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 파이프라인 · 커널/호스트는 빌드 시 독립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cubin 과 실행 파일은 서로 링크하지 않고, 실행 중 cuModuleLoad 로만 만난다.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291840" cy="914400"/>
          </a:xfrm>
          <a:prstGeom prst="roundRect">
            <a:avLst>
              <a:gd name="adj" fmla="val 5000"/>
            </a:avLst>
          </a:prstGeom>
          <a:solidFill>
            <a:srgbClr val="241A16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194560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memtestG80_kernels.cu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2560320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커널 2개 · extern "C"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931920" y="2560320"/>
            <a:ext cx="182880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931920" y="2258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nvcc -cubin -arch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52160" y="2103120"/>
            <a:ext cx="3108960" cy="914400"/>
          </a:xfrm>
          <a:prstGeom prst="roundRect">
            <a:avLst>
              <a:gd name="adj" fmla="val 5000"/>
            </a:avLst>
          </a:prstGeom>
          <a:solidFill>
            <a:srgbClr val="241A16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61888" y="2194560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memtestG80.cubin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61888" y="2560320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GPU 바이너리 (SASS)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3291840" cy="914400"/>
          </a:xfrm>
          <a:prstGeom prst="roundRect">
            <a:avLst>
              <a:gd name="adj" fmla="val 5000"/>
            </a:avLst>
          </a:prstGeom>
          <a:solidFill>
            <a:srgbClr val="12212A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794760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memtestG80_cli.cpp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" y="4160520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단일 호스트 파일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931920" y="4160520"/>
            <a:ext cx="1828800" cy="0"/>
          </a:xfrm>
          <a:prstGeom prst="line">
            <a:avLst/>
          </a:prstGeom>
          <a:noFill/>
          <a:ln w="31750">
            <a:solidFill>
              <a:srgbClr val="3FB8C4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3931920" y="3858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g++  (-lcuda)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52160" y="3703320"/>
            <a:ext cx="3108960" cy="914400"/>
          </a:xfrm>
          <a:prstGeom prst="roundRect">
            <a:avLst>
              <a:gd name="adj" fmla="val 5000"/>
            </a:avLst>
          </a:prstGeom>
          <a:solidFill>
            <a:srgbClr val="12212A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61888" y="3794760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memtestG80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61888" y="4160520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실행 파일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06640" y="3703320"/>
            <a:ext cx="0" cy="-685800"/>
          </a:xfrm>
          <a:prstGeom prst="line">
            <a:avLst/>
          </a:prstGeom>
          <a:noFill/>
          <a:ln w="25400">
            <a:solidFill>
              <a:srgbClr val="9FB0C4"/>
            </a:solidFill>
            <a:prstDash val="dash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7680960" y="3108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시 cuModuleLoad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9377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8212E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디바이스: </a:t>
            </a:r>
            <a:pPr indent="0" marL="0">
              <a:buNone/>
            </a:pPr>
            <a:r>
              <a:rPr lang="en-US" sz="13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nvcc -cubin → cubin(세대 전용 SASS)     </a:t>
            </a:r>
            <a:pPr indent="0" marL="0">
              <a:buNone/>
            </a:pPr>
            <a:r>
              <a:rPr lang="en-US" sz="13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호스트: </a:t>
            </a:r>
            <a:pPr indent="0" marL="0">
              <a:buNone/>
            </a:pPr>
            <a:r>
              <a:rPr lang="en-US" sz="13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g++ 단일 파일 + -lcuda (nvcc 불필요)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3FB8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흐름 · main() Driver API 수명주기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669280" cy="566928"/>
          </a:xfrm>
          <a:prstGeom prst="roundRect">
            <a:avLst>
              <a:gd name="adj" fmla="val 8065"/>
            </a:avLst>
          </a:prstGeom>
          <a:solidFill>
            <a:srgbClr val="0B1119"/>
          </a:solidFill>
          <a:ln w="19050">
            <a:solidFill>
              <a:srgbClr val="2C3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인자 파싱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46520" y="141732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-g / [MB] [iters]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83280" y="1984248"/>
            <a:ext cx="0" cy="68580"/>
          </a:xfrm>
          <a:prstGeom prst="line">
            <a:avLst/>
          </a:prstGeom>
          <a:noFill/>
          <a:ln w="19050">
            <a:solidFill>
              <a:srgbClr val="6B7D9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48640" y="2052828"/>
            <a:ext cx="5669280" cy="566928"/>
          </a:xfrm>
          <a:prstGeom prst="roundRect">
            <a:avLst>
              <a:gd name="adj" fmla="val 8065"/>
            </a:avLst>
          </a:prstGeom>
          <a:solidFill>
            <a:srgbClr val="0B1119"/>
          </a:solidFill>
          <a:ln w="19050">
            <a:solidFill>
              <a:srgbClr val="2C3A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05282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cuInit(0)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46520" y="205282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드라이버 초기화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83280" y="2619756"/>
            <a:ext cx="0" cy="68580"/>
          </a:xfrm>
          <a:prstGeom prst="line">
            <a:avLst/>
          </a:prstGeom>
          <a:noFill/>
          <a:ln w="19050">
            <a:solidFill>
              <a:srgbClr val="6B7D9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8640" y="2688336"/>
            <a:ext cx="5669280" cy="566928"/>
          </a:xfrm>
          <a:prstGeom prst="roundRect">
            <a:avLst>
              <a:gd name="adj" fmla="val 8065"/>
            </a:avLst>
          </a:prstGeom>
          <a:solidFill>
            <a:srgbClr val="0B1119"/>
          </a:solidFill>
          <a:ln w="19050">
            <a:solidFill>
              <a:srgbClr val="2C3A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688336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cuDeviceGet · Attribute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46520" y="268833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디바이스·compute capability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383280" y="3255264"/>
            <a:ext cx="0" cy="68580"/>
          </a:xfrm>
          <a:prstGeom prst="line">
            <a:avLst/>
          </a:prstGeom>
          <a:noFill/>
          <a:ln w="19050">
            <a:solidFill>
              <a:srgbClr val="6B7D9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8640" y="3323844"/>
            <a:ext cx="5669280" cy="566928"/>
          </a:xfrm>
          <a:prstGeom prst="roundRect">
            <a:avLst>
              <a:gd name="adj" fmla="val 8065"/>
            </a:avLst>
          </a:prstGeom>
          <a:solidFill>
            <a:srgbClr val="0B1119"/>
          </a:solidFill>
          <a:ln w="19050">
            <a:solidFill>
              <a:srgbClr val="2C3A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323844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cuCtxCreate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46520" y="332384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생성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383280" y="3890772"/>
            <a:ext cx="0" cy="68580"/>
          </a:xfrm>
          <a:prstGeom prst="line">
            <a:avLst/>
          </a:prstGeom>
          <a:noFill/>
          <a:ln w="19050">
            <a:solidFill>
              <a:srgbClr val="6B7D9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48640" y="3959352"/>
            <a:ext cx="5669280" cy="566928"/>
          </a:xfrm>
          <a:prstGeom prst="roundRect">
            <a:avLst>
              <a:gd name="adj" fmla="val 8065"/>
            </a:avLst>
          </a:prstGeom>
          <a:solidFill>
            <a:srgbClr val="241A16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95935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cuModuleLoad(cubin)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46520" y="395935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cubin → g_module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383280" y="4526280"/>
            <a:ext cx="0" cy="68580"/>
          </a:xfrm>
          <a:prstGeom prst="line">
            <a:avLst/>
          </a:prstGeom>
          <a:noFill/>
          <a:ln w="19050">
            <a:solidFill>
              <a:srgbClr val="6B7D9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48640" y="4594860"/>
            <a:ext cx="5669280" cy="566928"/>
          </a:xfrm>
          <a:prstGeom prst="roundRect">
            <a:avLst>
              <a:gd name="adj" fmla="val 8065"/>
            </a:avLst>
          </a:prstGeom>
          <a:solidFill>
            <a:srgbClr val="0B1119"/>
          </a:solidFill>
          <a:ln w="19050">
            <a:solidFill>
              <a:srgbClr val="2C3A4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59486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cuMemAlloc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46520" y="459486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devTestMem / devTempMem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383280" y="5161788"/>
            <a:ext cx="0" cy="68580"/>
          </a:xfrm>
          <a:prstGeom prst="line">
            <a:avLst/>
          </a:prstGeom>
          <a:noFill/>
          <a:ln w="19050">
            <a:solidFill>
              <a:srgbClr val="6B7D9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48640" y="5230368"/>
            <a:ext cx="5669280" cy="566928"/>
          </a:xfrm>
          <a:prstGeom prst="roundRect">
            <a:avLst>
              <a:gd name="adj" fmla="val 8065"/>
            </a:avLst>
          </a:prstGeom>
          <a:solidFill>
            <a:srgbClr val="0B1119"/>
          </a:solidFill>
          <a:ln w="19050">
            <a:solidFill>
              <a:srgbClr val="2C3A4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523036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반복: gpuMovingInversionsOnesZeros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46520" y="523036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테스트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383280" y="5797296"/>
            <a:ext cx="0" cy="68580"/>
          </a:xfrm>
          <a:prstGeom prst="line">
            <a:avLst/>
          </a:prstGeom>
          <a:noFill/>
          <a:ln w="19050">
            <a:solidFill>
              <a:srgbClr val="6B7D94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48640" y="5865876"/>
            <a:ext cx="5669280" cy="566928"/>
          </a:xfrm>
          <a:prstGeom prst="roundRect">
            <a:avLst>
              <a:gd name="adj" fmla="val 8065"/>
            </a:avLst>
          </a:prstGeom>
          <a:solidFill>
            <a:srgbClr val="0B1119"/>
          </a:solidFill>
          <a:ln w="19050">
            <a:solidFill>
              <a:srgbClr val="2C3A4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5865876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cuMemFree · cuModuleUnload · cuCtxDestroy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46520" y="586587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3FB8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테스트 → 커널 실행 (확대)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18212E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642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gpuMovingInversionsOnesZeros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" y="2103120"/>
            <a:ext cx="4663440" cy="457200"/>
          </a:xfrm>
          <a:prstGeom prst="roundRect">
            <a:avLst>
              <a:gd name="adj" fmla="val 10000"/>
            </a:avLst>
          </a:prstGeom>
          <a:solidFill>
            <a:srgbClr val="241A16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2103120"/>
            <a:ext cx="4553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gpuWriteConstant(0xFFFFFFFF)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108960" y="2560320"/>
            <a:ext cx="0" cy="91440"/>
          </a:xfrm>
          <a:prstGeom prst="line">
            <a:avLst/>
          </a:prstGeom>
          <a:noFill/>
          <a:ln w="17780">
            <a:solidFill>
              <a:srgbClr val="6B7D9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77240" y="2670048"/>
            <a:ext cx="4663440" cy="457200"/>
          </a:xfrm>
          <a:prstGeom prst="roundRect">
            <a:avLst>
              <a:gd name="adj" fmla="val 10000"/>
            </a:avLst>
          </a:prstGeom>
          <a:solidFill>
            <a:srgbClr val="0B1119"/>
          </a:solidFill>
          <a:ln w="15875">
            <a:solidFill>
              <a:srgbClr val="9FB0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2670048"/>
            <a:ext cx="4553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SOFTWAIT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08960" y="3127248"/>
            <a:ext cx="0" cy="91440"/>
          </a:xfrm>
          <a:prstGeom prst="line">
            <a:avLst/>
          </a:prstGeom>
          <a:noFill/>
          <a:ln w="17780">
            <a:solidFill>
              <a:srgbClr val="6B7D9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77240" y="3236976"/>
            <a:ext cx="4663440" cy="457200"/>
          </a:xfrm>
          <a:prstGeom prst="roundRect">
            <a:avLst>
              <a:gd name="adj" fmla="val 10000"/>
            </a:avLst>
          </a:prstGeom>
          <a:solidFill>
            <a:srgbClr val="12212A"/>
          </a:solidFill>
          <a:ln w="15875">
            <a:solidFill>
              <a:srgbClr val="3FB8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" y="3236976"/>
            <a:ext cx="4553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gpuVerifyConstant(0xFFFFFFFF)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108960" y="3694176"/>
            <a:ext cx="0" cy="91440"/>
          </a:xfrm>
          <a:prstGeom prst="line">
            <a:avLst/>
          </a:prstGeom>
          <a:noFill/>
          <a:ln w="17780">
            <a:solidFill>
              <a:srgbClr val="6B7D9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77240" y="3803904"/>
            <a:ext cx="4663440" cy="457200"/>
          </a:xfrm>
          <a:prstGeom prst="roundRect">
            <a:avLst>
              <a:gd name="adj" fmla="val 10000"/>
            </a:avLst>
          </a:prstGeom>
          <a:solidFill>
            <a:srgbClr val="241A16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" y="3803904"/>
            <a:ext cx="4553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gpuWriteConstant(0x0)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108960" y="4261104"/>
            <a:ext cx="0" cy="91440"/>
          </a:xfrm>
          <a:prstGeom prst="line">
            <a:avLst/>
          </a:prstGeom>
          <a:noFill/>
          <a:ln w="17780">
            <a:solidFill>
              <a:srgbClr val="6B7D9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77240" y="4370832"/>
            <a:ext cx="4663440" cy="457200"/>
          </a:xfrm>
          <a:prstGeom prst="roundRect">
            <a:avLst>
              <a:gd name="adj" fmla="val 10000"/>
            </a:avLst>
          </a:prstGeom>
          <a:solidFill>
            <a:srgbClr val="0B1119"/>
          </a:solidFill>
          <a:ln w="15875">
            <a:solidFill>
              <a:srgbClr val="9FB0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" y="4370832"/>
            <a:ext cx="4553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SOFTWAIT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108960" y="4828032"/>
            <a:ext cx="0" cy="91440"/>
          </a:xfrm>
          <a:prstGeom prst="line">
            <a:avLst/>
          </a:prstGeom>
          <a:noFill/>
          <a:ln w="17780">
            <a:solidFill>
              <a:srgbClr val="6B7D9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77240" y="4937760"/>
            <a:ext cx="4663440" cy="457200"/>
          </a:xfrm>
          <a:prstGeom prst="roundRect">
            <a:avLst>
              <a:gd name="adj" fmla="val 10000"/>
            </a:avLst>
          </a:prstGeom>
          <a:solidFill>
            <a:srgbClr val="12212A"/>
          </a:solidFill>
          <a:ln w="15875">
            <a:solidFill>
              <a:srgbClr val="3FB8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" y="4937760"/>
            <a:ext cx="4553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gpuVerifyConstant(0x0)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0" y="1554480"/>
            <a:ext cx="5669280" cy="4114800"/>
          </a:xfrm>
          <a:prstGeom prst="roundRect">
            <a:avLst>
              <a:gd name="adj" fmla="val 1778"/>
            </a:avLst>
          </a:prstGeom>
          <a:solidFill>
            <a:srgbClr val="18212E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16642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gpuWriteConstant / gpuVerifyConstant 내부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26480" y="2148840"/>
            <a:ext cx="5303520" cy="658368"/>
          </a:xfrm>
          <a:prstGeom prst="roundRect">
            <a:avLst>
              <a:gd name="adj" fmla="val 6944"/>
            </a:avLst>
          </a:prstGeom>
          <a:solidFill>
            <a:srgbClr val="12212A"/>
          </a:solidFill>
          <a:ln w="15875">
            <a:solidFill>
              <a:srgbClr val="3FB8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81344" y="2148840"/>
            <a:ext cx="5193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K("device…") = cuModuleGetFunction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(이름→CUfunction · 캐시)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778240" y="2807208"/>
            <a:ext cx="0" cy="137160"/>
          </a:xfrm>
          <a:prstGeom prst="line">
            <a:avLst/>
          </a:prstGeom>
          <a:noFill/>
          <a:ln w="19050">
            <a:solidFill>
              <a:srgbClr val="6B7D9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126480" y="2971800"/>
            <a:ext cx="5303520" cy="658368"/>
          </a:xfrm>
          <a:prstGeom prst="roundRect">
            <a:avLst>
              <a:gd name="adj" fmla="val 6944"/>
            </a:avLst>
          </a:prstGeom>
          <a:solidFill>
            <a:srgbClr val="241A16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81344" y="2971800"/>
            <a:ext cx="5193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launch() = cuLaunchKernel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(f, 1024,1,1, 512,1,1, shmem, 0, args, 0)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778240" y="3630168"/>
            <a:ext cx="0" cy="137160"/>
          </a:xfrm>
          <a:prstGeom prst="line">
            <a:avLst/>
          </a:prstGeom>
          <a:noFill/>
          <a:ln w="19050">
            <a:solidFill>
              <a:srgbClr val="6B7D9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126480" y="3794760"/>
            <a:ext cx="5303520" cy="566928"/>
          </a:xfrm>
          <a:prstGeom prst="roundRect">
            <a:avLst>
              <a:gd name="adj" fmla="val 8065"/>
            </a:avLst>
          </a:prstGeom>
          <a:solidFill>
            <a:srgbClr val="0B1119"/>
          </a:solidFill>
          <a:ln w="15875">
            <a:solidFill>
              <a:srgbClr val="9FB0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81344" y="3794760"/>
            <a:ext cx="5193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(verify) SOFTWAIT · cuStreamQuery 폴링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778240" y="4361688"/>
            <a:ext cx="0" cy="137160"/>
          </a:xfrm>
          <a:prstGeom prst="line">
            <a:avLst/>
          </a:prstGeom>
          <a:noFill/>
          <a:ln w="19050">
            <a:solidFill>
              <a:srgbClr val="6B7D94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126480" y="4526280"/>
            <a:ext cx="5303520" cy="566928"/>
          </a:xfrm>
          <a:prstGeom prst="roundRect">
            <a:avLst>
              <a:gd name="adj" fmla="val 8065"/>
            </a:avLst>
          </a:prstGeom>
          <a:solidFill>
            <a:srgbClr val="12212A"/>
          </a:solidFill>
          <a:ln w="15875">
            <a:solidFill>
              <a:srgbClr val="3FB8C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81344" y="4526280"/>
            <a:ext cx="5193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cuMemcpyDtoH → 블록별 오류 합산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26480" y="52120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cuModuleLoad → cuModuleGetFunction → cuLaunchKernel = 로딩·실행 3핵심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남기고 · 무엇을 덜어냈나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18212E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남긴 것 (필수 골격)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cuInit · cuDeviceGet* · cuCtxCreate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cuModuleLoad · cuModuleGetFunction (K 캐시)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cuLaunchKernel (launch 래퍼) · SOFTWAIT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cuMemcpyDtoH + 블록별 합산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 2개 (Write/Verify Constant)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테스트 1종 (Moving Inversions)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C++ 인자 파싱 · 단일 cli.cpp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50876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18212E"/>
          </a:solidFill>
          <a:ln w="19050">
            <a:solidFill>
              <a:srgbClr val="E660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645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6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덜어낸 것 (부가·중복)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214884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ezOptionParser.hpp (서드파티 파서)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라이선스 출력 · 대역폭 측정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12종 테스트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LCG·워킹·랜덤·모듈로 커널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PRNG __device__ 헬퍼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memtestState OO 래퍼 · core.{h,cpp}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findCubin (fopen 탐침)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2 정리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1965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덜어내면 뼈대가 보인다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548640" y="306324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driver_api/ (1,049줄+서드파티) → driver_api_study/ (293줄·단일 파일). 동작은 그대로.
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아무리 덜어내도 남는 것: cuModuleLoad → cuModuleGetFunction → cuLaunchKernel.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4937760"/>
            <a:ext cx="8412480" cy="1005840"/>
          </a:xfrm>
          <a:prstGeom prst="roundRect">
            <a:avLst>
              <a:gd name="adj" fmla="val 4545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5084064"/>
            <a:ext cx="7973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2C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직접 해보기: cd driver_api_study &amp;&amp; make SMARCH=sm_75 &amp;&amp; ./memtestG80 128 50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문서판: docs/seminar/부록2_DriverAPI_최소예제_단일파일.md · 개념 심화: 부록 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소스: driver_api_study/  ·  대조군: driver_api/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2026-09-22T22:45:30Z</dcterms:created>
  <dcterms:modified xsi:type="dcterms:W3CDTF">2026-09-22T22:45:30Z</dcterms:modified>
</cp:coreProperties>
</file>